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F7EC7C-108A-18A3-27D7-A53988C4B544}" v="1" dt="2026-05-13T10:11:49.001"/>
    <p1510:client id="{60A9ED6C-74DF-C639-D54C-ABBD9235E2CF}" v="74" dt="2026-05-13T11:29:49.802"/>
    <p1510:client id="{9A7250B0-7BE2-9EE1-F80E-95BF1150A469}" v="54" dt="2026-05-13T15:23:56.916"/>
    <p1510:client id="{C635624F-D600-733A-A015-AD76BAB2B5AD}" v="189" dt="2026-05-13T17:58:31.8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5_0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6_0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7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PyCaret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</c:v>
                </c:pt>
                <c:pt idx="2">
                  <c:v>Recall</c:v>
                </c:pt>
                <c:pt idx="3">
                  <c:v>F1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0.94210000000000005</c:v>
                </c:pt>
                <c:pt idx="1">
                  <c:v>0.93210000000000004</c:v>
                </c:pt>
                <c:pt idx="2">
                  <c:v>0.91900000000000004</c:v>
                </c:pt>
                <c:pt idx="3">
                  <c:v>0.92549999999999999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1C-405A-B18F-BD54FD0AF4C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Scikit-learn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 Riesgo</c:v>
                </c:pt>
                <c:pt idx="2">
                  <c:v>Recall Riesgo</c:v>
                </c:pt>
                <c:pt idx="3">
                  <c:v>F1 Riesgo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0.94210000000000005</c:v>
                </c:pt>
                <c:pt idx="1">
                  <c:v>0.93210000000000004</c:v>
                </c:pt>
                <c:pt idx="2">
                  <c:v>0.91900000000000004</c:v>
                </c:pt>
                <c:pt idx="3">
                  <c:v>0.92549999999999999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9E-487E-A1FB-08281B75262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PyCaret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Accuracy</c:v>
                </c:pt>
                <c:pt idx="1">
                  <c:v>Precision Riesgo</c:v>
                </c:pt>
                <c:pt idx="2">
                  <c:v>Recall Riesgo</c:v>
                </c:pt>
                <c:pt idx="3">
                  <c:v>F1 Riesgo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0.94210000000000005</c:v>
                </c:pt>
                <c:pt idx="1">
                  <c:v>0.93210000000000004</c:v>
                </c:pt>
                <c:pt idx="2">
                  <c:v>0.91900000000000004</c:v>
                </c:pt>
                <c:pt idx="3">
                  <c:v>0.92549999999999999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9E-487E-A1FB-08281B75262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86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Scikit-learn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Entrenamiento (s)</c:v>
                </c:pt>
                <c:pt idx="1">
                  <c:v>Predicción (s)</c:v>
                </c:pt>
                <c:pt idx="2">
                  <c:v>Horas desarrollo</c:v>
                </c:pt>
                <c:pt idx="3">
                  <c:v>Líneas / 100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1.5599999999999999E-2</c:v>
                </c:pt>
                <c:pt idx="1">
                  <c:v>2.0999999999999999E-3</c:v>
                </c:pt>
                <c:pt idx="2">
                  <c:v>3</c:v>
                </c:pt>
                <c:pt idx="3">
                  <c:v>1.75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61-4687-9469-952CD14DC96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PyCaret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Entrenamiento (s)</c:v>
                </c:pt>
                <c:pt idx="1">
                  <c:v>Predicción (s)</c:v>
                </c:pt>
                <c:pt idx="2">
                  <c:v>Horas desarrollo</c:v>
                </c:pt>
                <c:pt idx="3">
                  <c:v>Líneas / 100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11.934200000000001</c:v>
                </c:pt>
                <c:pt idx="1">
                  <c:v>0.14940000000000001</c:v>
                </c:pt>
                <c:pt idx="2">
                  <c:v>1.5</c:v>
                </c:pt>
                <c:pt idx="3">
                  <c:v>1.0900000000000001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361-4687-9469-952CD14DC9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972A91-5807-47C0-BCB4-1E0ABB69EB48}" type="datetimeFigureOut"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BF2739-D17E-46B4-B5FB-1E369113F6F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843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Gonzalo
Abrir la presentación situando el objetivo: TG3 no es una comparación teórica, sino una prueba práctica. Explicar que se comparan dos tecnologías ya trabajadas en TG1/TG2 mediante dos prototipos equivalentes.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Gonzalo
Explicar la continuidad: TG1 eligió tecnologías y recursos, TG2 comparó en teoría, TG3 construye prototipos. Remarcar que los dos prototipos tienen los mismos requisitos para que la comparación sea justa.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Marcos
Explicar el dataset y la simplificación binaria. Dejar claro que se elimina Enrolled porque no tiene resultado final cerrado. Decir que el objetivo es comparar tecnologías, no implantar un sistema real de decisión académica.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Marcos
Explicar que aquí está la base de la validez: mismas condiciones. Insistir en que si A y B hicieran cosas distintas, la comparación no valdría.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Alberto
Presentar el prototipo A. Enfatizar que Scikit-learn permite ver y controlar todo el pipeline. El coste es que hay más código y más decisiones manuales.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Alberto
Presentar el prototipo B. Explicar que PyCaret no solo entrena: automatiza todo el experimento. Recalcar que los 11,9 segundos incluyen comparar modelos, no solo entrenar una regresión logística.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Raúl
Explicar que las métricas son idénticas. Esto no es un fallo: significa que ambos prototipos resolvieron el mismo problema con el mismo modelo final. La pregunta pasa a ser qué tecnología conviene según el contexto.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Raúl
Matizar el punto delicado: los 11,9s de PyCaret incluyen la comparación automática. No decir simplemente que Scikit es 700 veces más rápido. Decir que Scikit es más rápido en el ajuste final y PyCaret automatiza la exploración.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F3DEA-0DA9-A198-5A09-A7EC06ABF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7B0BA3-FF0A-72D0-D397-8CD6588C6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9D565-FE04-6483-FADB-EAC64B71D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7349B-B605-2B3C-7B60-BCA4DD1411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86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9672"/>
            <a:ext cx="8686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TG3 · Scikit-learn vs PyCaret · dte2026a3g02</a:t>
            </a:r>
            <a:endParaRPr lang="en-US" sz="7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0"/>
            <a:ext cx="2377440" cy="6858000"/>
          </a:xfrm>
          <a:prstGeom prst="rect">
            <a:avLst/>
          </a:prstGeom>
          <a:solidFill>
            <a:srgbClr val="1E293B">
              <a:alpha val="80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93C5FD"/>
                </a:solidFill>
              </a:rPr>
              <a:t>TG3</a:t>
            </a:r>
            <a:endParaRPr lang="en-US" sz="160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200" b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Scikit-learn vs PyCaret</a:t>
            </a:r>
            <a:endParaRPr lang="en-US" sz="4200"/>
          </a:p>
        </p:txBody>
      </p:sp>
      <p:sp>
        <p:nvSpPr>
          <p:cNvPr id="5" name="Text 3"/>
          <p:cNvSpPr/>
          <p:nvPr/>
        </p:nvSpPr>
        <p:spPr>
          <a:xfrm>
            <a:off x="749808" y="214884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err="1">
                <a:solidFill>
                  <a:srgbClr val="CBD5E1"/>
                </a:solidFill>
              </a:rPr>
              <a:t>Comparación</a:t>
            </a:r>
            <a:r>
              <a:rPr lang="en-US" sz="1900">
                <a:solidFill>
                  <a:srgbClr val="CBD5E1"/>
                </a:solidFill>
              </a:rPr>
              <a:t> </a:t>
            </a:r>
            <a:r>
              <a:rPr lang="en-US" sz="1900" err="1">
                <a:solidFill>
                  <a:srgbClr val="CBD5E1"/>
                </a:solidFill>
              </a:rPr>
              <a:t>práctica</a:t>
            </a:r>
            <a:r>
              <a:rPr lang="en-US" sz="1900">
                <a:solidFill>
                  <a:srgbClr val="CBD5E1"/>
                </a:solidFill>
              </a:rPr>
              <a:t> </a:t>
            </a:r>
            <a:r>
              <a:rPr lang="en-US" sz="1900" err="1">
                <a:solidFill>
                  <a:srgbClr val="CBD5E1"/>
                </a:solidFill>
              </a:rPr>
              <a:t>mediante</a:t>
            </a:r>
            <a:r>
              <a:rPr lang="en-US" sz="1900">
                <a:solidFill>
                  <a:srgbClr val="CBD5E1"/>
                </a:solidFill>
              </a:rPr>
              <a:t> un </a:t>
            </a:r>
            <a:r>
              <a:rPr lang="en-US" sz="1900" err="1">
                <a:solidFill>
                  <a:srgbClr val="CBD5E1"/>
                </a:solidFill>
              </a:rPr>
              <a:t>prototipo</a:t>
            </a:r>
            <a:r>
              <a:rPr lang="en-US" sz="1900">
                <a:solidFill>
                  <a:srgbClr val="CBD5E1"/>
                </a:solidFill>
              </a:rPr>
              <a:t> de </a:t>
            </a:r>
            <a:r>
              <a:rPr lang="en-US" sz="1900" err="1">
                <a:solidFill>
                  <a:srgbClr val="CBD5E1"/>
                </a:solidFill>
              </a:rPr>
              <a:t>predicción</a:t>
            </a:r>
            <a:r>
              <a:rPr lang="en-US" sz="1900">
                <a:solidFill>
                  <a:srgbClr val="CBD5E1"/>
                </a:solidFill>
              </a:rPr>
              <a:t> de </a:t>
            </a:r>
            <a:r>
              <a:rPr lang="en-US" sz="1900" err="1">
                <a:solidFill>
                  <a:srgbClr val="CBD5E1"/>
                </a:solidFill>
              </a:rPr>
              <a:t>éxito</a:t>
            </a:r>
            <a:r>
              <a:rPr lang="en-US" sz="1900">
                <a:solidFill>
                  <a:srgbClr val="CBD5E1"/>
                </a:solidFill>
              </a:rPr>
              <a:t> </a:t>
            </a:r>
            <a:r>
              <a:rPr lang="en-US" sz="1900" err="1">
                <a:solidFill>
                  <a:srgbClr val="CBD5E1"/>
                </a:solidFill>
              </a:rPr>
              <a:t>académico</a:t>
            </a:r>
            <a:r>
              <a:rPr lang="en-US" sz="1900">
                <a:solidFill>
                  <a:srgbClr val="CBD5E1"/>
                </a:solidFill>
              </a:rPr>
              <a:t> / </a:t>
            </a:r>
            <a:r>
              <a:rPr lang="en-US" sz="1900" err="1">
                <a:solidFill>
                  <a:srgbClr val="CBD5E1"/>
                </a:solidFill>
              </a:rPr>
              <a:t>riesgo</a:t>
            </a:r>
            <a:r>
              <a:rPr lang="en-US" sz="1900">
                <a:solidFill>
                  <a:srgbClr val="CBD5E1"/>
                </a:solidFill>
              </a:rPr>
              <a:t> de abandono.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749808" y="3154680"/>
            <a:ext cx="2971800" cy="292608"/>
          </a:xfrm>
          <a:prstGeom prst="roundRect">
            <a:avLst>
              <a:gd name="adj" fmla="val 25000"/>
            </a:avLst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3214116"/>
            <a:ext cx="2788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Desarrollo con </a:t>
            </a:r>
            <a:r>
              <a:rPr lang="en-US" sz="1050" b="1" dirty="0" err="1">
                <a:solidFill>
                  <a:srgbClr val="FFFFFF"/>
                </a:solidFill>
              </a:rPr>
              <a:t>Tecnologías</a:t>
            </a:r>
            <a:r>
              <a:rPr lang="en-US" sz="1050" b="1" dirty="0">
                <a:solidFill>
                  <a:srgbClr val="FFFFFF"/>
                </a:solidFill>
              </a:rPr>
              <a:t> </a:t>
            </a:r>
            <a:r>
              <a:rPr lang="en-US" sz="1050" b="1" dirty="0" err="1">
                <a:solidFill>
                  <a:srgbClr val="FFFFFF"/>
                </a:solidFill>
              </a:rPr>
              <a:t>Emergentes</a:t>
            </a:r>
            <a:endParaRPr lang="en-US" sz="1050" dirty="0" err="1"/>
          </a:p>
        </p:txBody>
      </p:sp>
      <p:sp>
        <p:nvSpPr>
          <p:cNvPr id="8" name="Shape 6"/>
          <p:cNvSpPr/>
          <p:nvPr/>
        </p:nvSpPr>
        <p:spPr>
          <a:xfrm>
            <a:off x="3886200" y="3154680"/>
            <a:ext cx="2057400" cy="292608"/>
          </a:xfrm>
          <a:prstGeom prst="roundRect">
            <a:avLst>
              <a:gd name="adj" fmla="val 25000"/>
            </a:avLst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77640" y="3214116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</a:rPr>
              <a:t>Grupo 02 · dte2026a3g02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749808" y="5989320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BD5E1"/>
                </a:solidFill>
              </a:rPr>
              <a:t>Gonzalo López · Marcos Corrochano · Raúl Rodríguez · Alberto García · Diego López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95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TG1/TG2 a TG3: probar, no solo comparar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2788920"/>
            <a:ext cx="960120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486400" y="2788920"/>
            <a:ext cx="960120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33172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24414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b="1">
                <a:solidFill>
                  <a:srgbClr val="2563EB"/>
                </a:solidFill>
              </a:rPr>
              <a:t>TG1</a:t>
            </a:r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24128" y="269748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475569"/>
                </a:solidFill>
              </a:rPr>
              <a:t>Recursos</a:t>
            </a:r>
            <a:r>
              <a:rPr lang="en-US" sz="1050" dirty="0">
                <a:solidFill>
                  <a:srgbClr val="475569"/>
                </a:solidFill>
              </a:rPr>
              <a:t> y </a:t>
            </a:r>
            <a:r>
              <a:rPr lang="en-US" sz="1050" dirty="0" err="1">
                <a:solidFill>
                  <a:srgbClr val="475569"/>
                </a:solidFill>
              </a:rPr>
              <a:t>línea</a:t>
            </a:r>
            <a:endParaRPr lang="en-US" sz="1050" dirty="0" err="1"/>
          </a:p>
        </p:txBody>
      </p:sp>
      <p:sp>
        <p:nvSpPr>
          <p:cNvPr id="10" name="Shape 8"/>
          <p:cNvSpPr/>
          <p:nvPr/>
        </p:nvSpPr>
        <p:spPr>
          <a:xfrm>
            <a:off x="3703320" y="233172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13048" y="24414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7C3AED"/>
                </a:solidFill>
              </a:rPr>
              <a:t>TG2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3813048" y="269748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 err="1">
                <a:solidFill>
                  <a:srgbClr val="475569"/>
                </a:solidFill>
              </a:rPr>
              <a:t>Comparación</a:t>
            </a:r>
            <a:r>
              <a:rPr lang="en-US" sz="1050" dirty="0">
                <a:solidFill>
                  <a:srgbClr val="475569"/>
                </a:solidFill>
              </a:rPr>
              <a:t> </a:t>
            </a:r>
            <a:r>
              <a:rPr lang="en-US" sz="1050" dirty="0" err="1">
                <a:solidFill>
                  <a:srgbClr val="475569"/>
                </a:solidFill>
              </a:rPr>
              <a:t>teórica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6446520" y="2331720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56248" y="244144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000" b="1">
                <a:solidFill>
                  <a:srgbClr val="16A34A"/>
                </a:solidFill>
              </a:rPr>
              <a:t>TG3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6556248" y="269748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 err="1">
                <a:solidFill>
                  <a:srgbClr val="475569"/>
                </a:solidFill>
              </a:rPr>
              <a:t>Prototipos</a:t>
            </a:r>
            <a:r>
              <a:rPr lang="en-US" sz="1100" dirty="0">
                <a:solidFill>
                  <a:srgbClr val="475569"/>
                </a:solidFill>
              </a:rPr>
              <a:t> reales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914400" y="42062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0F172A"/>
                </a:solidFill>
              </a:rPr>
              <a:t>Misma</a:t>
            </a:r>
            <a:r>
              <a:rPr lang="en-US" sz="2000" b="1" dirty="0">
                <a:solidFill>
                  <a:srgbClr val="0F172A"/>
                </a:solidFill>
              </a:rPr>
              <a:t> </a:t>
            </a:r>
            <a:r>
              <a:rPr lang="en-US" sz="2000" b="1" dirty="0" err="1">
                <a:solidFill>
                  <a:srgbClr val="0F172A"/>
                </a:solidFill>
              </a:rPr>
              <a:t>funcionalidad</a:t>
            </a:r>
            <a:r>
              <a:rPr lang="en-US" sz="2000" b="1" dirty="0">
                <a:solidFill>
                  <a:srgbClr val="0F172A"/>
                </a:solidFill>
              </a:rPr>
              <a:t>, dos </a:t>
            </a:r>
            <a:r>
              <a:rPr lang="en-US" sz="2000" b="1" dirty="0" err="1">
                <a:solidFill>
                  <a:srgbClr val="0F172A"/>
                </a:solidFill>
              </a:rPr>
              <a:t>tecnologías</a:t>
            </a:r>
            <a:r>
              <a:rPr lang="en-US" sz="2000" b="1" dirty="0">
                <a:solidFill>
                  <a:srgbClr val="0F172A"/>
                </a:solidFill>
              </a:rPr>
              <a:t>, </a:t>
            </a:r>
            <a:r>
              <a:rPr lang="en-US" sz="2000" b="1" dirty="0" err="1">
                <a:solidFill>
                  <a:srgbClr val="0F172A"/>
                </a:solidFill>
              </a:rPr>
              <a:t>medición</a:t>
            </a:r>
            <a:r>
              <a:rPr lang="en-US" sz="2000" b="1" dirty="0">
                <a:solidFill>
                  <a:srgbClr val="0F172A"/>
                </a:solidFill>
              </a:rPr>
              <a:t> </a:t>
            </a:r>
            <a:r>
              <a:rPr lang="en-US" sz="2000" b="1" dirty="0" err="1">
                <a:solidFill>
                  <a:srgbClr val="0F172A"/>
                </a:solidFill>
              </a:rPr>
              <a:t>práctica</a:t>
            </a:r>
            <a:r>
              <a:rPr lang="en-US" sz="2000" b="1" dirty="0">
                <a:solidFill>
                  <a:srgbClr val="0F172A"/>
                </a:solidFill>
              </a:rPr>
              <a:t>.</a:t>
            </a:r>
            <a:endParaRPr lang="en-US" sz="2800"/>
          </a:p>
        </p:txBody>
      </p:sp>
      <p:sp>
        <p:nvSpPr>
          <p:cNvPr id="20" name="Text 18"/>
          <p:cNvSpPr/>
          <p:nvPr/>
        </p:nvSpPr>
        <p:spPr>
          <a:xfrm>
            <a:off x="960120" y="4617720"/>
            <a:ext cx="987552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Línea: IA para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analítica</a:t>
            </a:r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predictiva</a:t>
            </a:r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en</a:t>
            </a:r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educación</a:t>
            </a:r>
            <a:endParaRPr lang="en-US" sz="1600" dirty="0" err="1">
              <a:latin typeface="Aptos"/>
            </a:endParaRPr>
          </a:p>
          <a:p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Tecnologías</a:t>
            </a:r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: Scikit-learn y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PyCaret</a:t>
            </a:r>
            <a:endParaRPr lang="en-US" sz="1600" dirty="0" err="1">
              <a:latin typeface="Aptos"/>
            </a:endParaRPr>
          </a:p>
          <a:p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Comparación</a:t>
            </a:r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: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métricas</a:t>
            </a:r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tiempos</a:t>
            </a:r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código</a:t>
            </a:r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instalación</a:t>
            </a:r>
            <a:r>
              <a:rPr lang="en-US" sz="16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y </a:t>
            </a:r>
            <a:r>
              <a:rPr lang="en-US" sz="16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mantenibilidad</a:t>
            </a:r>
            <a:endParaRPr lang="en-US" sz="1600" dirty="0" err="1"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40080" y="5833872"/>
            <a:ext cx="10881360" cy="429768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" y="5952744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r>
              <a:rPr lang="en-US" sz="1150" b="1" dirty="0">
                <a:solidFill>
                  <a:srgbClr val="0F172A"/>
                </a:solidFill>
              </a:rPr>
              <a:t>Predict </a:t>
            </a:r>
            <a:r>
              <a:rPr lang="en-US" sz="1150" b="1">
                <a:solidFill>
                  <a:srgbClr val="0F172A"/>
                </a:solidFill>
              </a:rPr>
              <a:t>Students</a:t>
            </a:r>
            <a:r>
              <a:rPr lang="en-US" sz="1150" b="1" dirty="0">
                <a:solidFill>
                  <a:srgbClr val="0F172A"/>
                </a:solidFill>
              </a:rPr>
              <a:t>' </a:t>
            </a:r>
            <a:r>
              <a:rPr lang="en-US" sz="1150" b="1" err="1">
                <a:solidFill>
                  <a:srgbClr val="0F172A"/>
                </a:solidFill>
              </a:rPr>
              <a:t>Dropou</a:t>
            </a:r>
            <a:r>
              <a:rPr lang="en-US" sz="1150" b="1">
                <a:solidFill>
                  <a:srgbClr val="0F172A"/>
                </a:solidFill>
              </a:rPr>
              <a:t>t and Academic Success</a:t>
            </a:r>
            <a:endParaRPr lang="en-US" sz="1150" b="1" dirty="0">
              <a:solidFill>
                <a:srgbClr val="0F172A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PRÁCTICO</a:t>
            </a:r>
            <a:endParaRPr lang="en-US" sz="95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y dataset: predicción académica binaria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4754880" cy="3886200"/>
          </a:xfrm>
          <a:prstGeom prst="roundRect">
            <a:avLst>
              <a:gd name="adj" fmla="val 1882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8105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Dataset UCI</a:t>
            </a:r>
            <a:endParaRPr lang="en-US" sz="1700"/>
          </a:p>
        </p:txBody>
      </p:sp>
      <p:sp>
        <p:nvSpPr>
          <p:cNvPr id="7" name="Text 5"/>
          <p:cNvSpPr/>
          <p:nvPr/>
        </p:nvSpPr>
        <p:spPr>
          <a:xfrm>
            <a:off x="1051560" y="2240280"/>
            <a:ext cx="411480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Students’ Dropout and Academic Success</a:t>
            </a:r>
            <a:endParaRPr lang="en-US" sz="1400"/>
          </a:p>
          <a:p>
            <a:endParaRPr lang="en-US" sz="1400" dirty="0">
              <a:solidFill>
                <a:srgbClr val="475569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4.424 </a:t>
            </a:r>
            <a:r>
              <a:rPr lang="en-US" sz="14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registros</a:t>
            </a:r>
            <a:r>
              <a:rPr lang="en-US" sz="14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originales</a:t>
            </a:r>
            <a:endParaRPr lang="en-US" sz="1400" dirty="0" err="1">
              <a:latin typeface="Aptos"/>
            </a:endParaRPr>
          </a:p>
          <a:p>
            <a:endParaRPr lang="en-US" sz="1400" dirty="0">
              <a:solidFill>
                <a:srgbClr val="475569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r>
              <a:rPr lang="en-US" sz="14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37 columnas de </a:t>
            </a:r>
            <a:r>
              <a:rPr lang="en-US" sz="14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información</a:t>
            </a:r>
            <a:r>
              <a:rPr lang="en-US" sz="14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académica</a:t>
            </a:r>
            <a:r>
              <a:rPr lang="en-US" sz="140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, social y </a:t>
            </a:r>
            <a:r>
              <a:rPr lang="en-US" sz="140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administrativa</a:t>
            </a:r>
            <a:endParaRPr lang="en-US" sz="1400" dirty="0" err="1">
              <a:latin typeface="Aptos"/>
            </a:endParaRPr>
          </a:p>
          <a:p>
            <a:endParaRPr lang="en-US" sz="1400" dirty="0">
              <a:solidFill>
                <a:srgbClr val="475569"/>
              </a:solidFill>
              <a:latin typeface="Aptos"/>
              <a:ea typeface="Aptos" pitchFamily="34" charset="-122"/>
              <a:cs typeface="Aptos" pitchFamily="34" charset="-120"/>
            </a:endParaRPr>
          </a:p>
          <a:p>
            <a:r>
              <a:rPr lang="en-US" sz="140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Variable original: Target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897880" y="3456432"/>
            <a:ext cx="960120" cy="0"/>
          </a:xfrm>
          <a:prstGeom prst="line">
            <a:avLst/>
          </a:prstGeom>
          <a:noFill/>
          <a:ln w="25400">
            <a:solidFill>
              <a:srgbClr val="D9E2E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132320" y="1554480"/>
            <a:ext cx="429768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4928" y="18105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Transformación del problema</a:t>
            </a:r>
            <a:endParaRPr lang="en-US" sz="1700"/>
          </a:p>
        </p:txBody>
      </p:sp>
      <p:sp>
        <p:nvSpPr>
          <p:cNvPr id="11" name="Shape 9"/>
          <p:cNvSpPr/>
          <p:nvPr/>
        </p:nvSpPr>
        <p:spPr>
          <a:xfrm>
            <a:off x="7452360" y="2304288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16A34A">
              <a:alpha val="92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2363724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Graduate → Exito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7452360" y="2834640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EA580C">
              <a:alpha val="92000"/>
            </a:srgbClr>
          </a:solidFill>
          <a:ln w="12700">
            <a:solidFill>
              <a:srgbClr val="EA580C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2894076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Dropout → Riesgo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7452360" y="3364992"/>
            <a:ext cx="1920240" cy="292608"/>
          </a:xfrm>
          <a:prstGeom prst="roundRect">
            <a:avLst>
              <a:gd name="adj" fmla="val 25000"/>
            </a:avLst>
          </a:prstGeom>
          <a:solidFill>
            <a:srgbClr val="475569">
              <a:alpha val="92000"/>
            </a:srgbClr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342442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>
                <a:solidFill>
                  <a:srgbClr val="FFFFFF"/>
                </a:solidFill>
              </a:rPr>
              <a:t>Enrolled eliminado</a:t>
            </a:r>
            <a:endParaRPr lang="en-US" sz="850"/>
          </a:p>
        </p:txBody>
      </p:sp>
      <p:sp>
        <p:nvSpPr>
          <p:cNvPr id="17" name="Text 15"/>
          <p:cNvSpPr/>
          <p:nvPr/>
        </p:nvSpPr>
        <p:spPr>
          <a:xfrm>
            <a:off x="7498080" y="406908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>
                <a:solidFill>
                  <a:srgbClr val="475569"/>
                </a:solidFill>
              </a:rPr>
              <a:t>Motivo: Enrolled no tiene resultado final cerrado.</a:t>
            </a:r>
            <a:endParaRPr lang="en-US" sz="1450"/>
          </a:p>
        </p:txBody>
      </p:sp>
      <p:sp>
        <p:nvSpPr>
          <p:cNvPr id="18" name="Text 16"/>
          <p:cNvSpPr/>
          <p:nvPr/>
        </p:nvSpPr>
        <p:spPr>
          <a:xfrm>
            <a:off x="8915400" y="46177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3.630</a:t>
            </a:r>
            <a:endParaRPr lang="en-US" sz="2700"/>
          </a:p>
        </p:txBody>
      </p:sp>
      <p:sp>
        <p:nvSpPr>
          <p:cNvPr id="19" name="Text 17"/>
          <p:cNvSpPr/>
          <p:nvPr/>
        </p:nvSpPr>
        <p:spPr>
          <a:xfrm>
            <a:off x="8915400" y="51206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filas usadas tras filtrar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640080" y="5833872"/>
            <a:ext cx="10881360" cy="429768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952744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0F172A"/>
                </a:solidFill>
              </a:rPr>
              <a:t>El modelo no “adivina” abandonos reales futuros: clasifica casos de prueba comparando predicción vs. resultado real del dataset.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METODOLOGÍA</a:t>
            </a:r>
            <a:endParaRPr lang="en-US" sz="95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Diseño experimental: misma prueba para ambos prototipos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51238" y="2118612"/>
            <a:ext cx="914400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45798" y="2118612"/>
            <a:ext cx="914400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640358" y="2118612"/>
            <a:ext cx="914400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834918" y="2118612"/>
            <a:ext cx="914400" cy="0"/>
          </a:xfrm>
          <a:prstGeom prst="line">
            <a:avLst/>
          </a:prstGeom>
          <a:noFill/>
          <a:ln w="15240">
            <a:solidFill>
              <a:srgbClr val="D9E2E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71078" y="1752852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0806" y="18625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2563EB"/>
                </a:solidFill>
              </a:rPr>
              <a:t>CSV</a:t>
            </a:r>
            <a:endParaRPr lang="en-US" sz="1200"/>
          </a:p>
        </p:txBody>
      </p:sp>
      <p:sp>
        <p:nvSpPr>
          <p:cNvPr id="11" name="Text 9"/>
          <p:cNvSpPr/>
          <p:nvPr/>
        </p:nvSpPr>
        <p:spPr>
          <a:xfrm>
            <a:off x="1080806" y="211861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475569"/>
                </a:solidFill>
              </a:rPr>
              <a:t>data.csv</a:t>
            </a:r>
            <a:endParaRPr lang="en-US" sz="850"/>
          </a:p>
        </p:txBody>
      </p:sp>
      <p:sp>
        <p:nvSpPr>
          <p:cNvPr id="12" name="Shape 10"/>
          <p:cNvSpPr/>
          <p:nvPr/>
        </p:nvSpPr>
        <p:spPr>
          <a:xfrm>
            <a:off x="3165638" y="1752852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75366" y="18625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7C3AED"/>
                </a:solidFill>
              </a:rPr>
              <a:t>Filtrado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3275366" y="211861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475569"/>
                </a:solidFill>
              </a:rPr>
              <a:t>Graduate/Dropout</a:t>
            </a:r>
            <a:endParaRPr lang="en-US" sz="850"/>
          </a:p>
        </p:txBody>
      </p:sp>
      <p:sp>
        <p:nvSpPr>
          <p:cNvPr id="15" name="Shape 13"/>
          <p:cNvSpPr/>
          <p:nvPr/>
        </p:nvSpPr>
        <p:spPr>
          <a:xfrm>
            <a:off x="5360198" y="1752852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69926" y="18625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0EA5E9"/>
                </a:solidFill>
              </a:rPr>
              <a:t>Split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5469926" y="211861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475569"/>
                </a:solidFill>
              </a:rPr>
              <a:t>80/20 · seed 42</a:t>
            </a:r>
            <a:endParaRPr lang="en-US" sz="850"/>
          </a:p>
        </p:txBody>
      </p:sp>
      <p:sp>
        <p:nvSpPr>
          <p:cNvPr id="18" name="Shape 16"/>
          <p:cNvSpPr/>
          <p:nvPr/>
        </p:nvSpPr>
        <p:spPr>
          <a:xfrm>
            <a:off x="7554758" y="1752852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64486" y="18625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16A34A"/>
                </a:solidFill>
              </a:rPr>
              <a:t>Modelo</a:t>
            </a:r>
            <a:endParaRPr lang="en-US" sz="1200"/>
          </a:p>
        </p:txBody>
      </p:sp>
      <p:sp>
        <p:nvSpPr>
          <p:cNvPr id="20" name="Text 18"/>
          <p:cNvSpPr/>
          <p:nvPr/>
        </p:nvSpPr>
        <p:spPr>
          <a:xfrm>
            <a:off x="7664486" y="211861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475569"/>
                </a:solidFill>
              </a:rPr>
              <a:t>Logistic Regression</a:t>
            </a:r>
            <a:endParaRPr lang="en-US" sz="850"/>
          </a:p>
        </p:txBody>
      </p:sp>
      <p:sp>
        <p:nvSpPr>
          <p:cNvPr id="21" name="Shape 19"/>
          <p:cNvSpPr/>
          <p:nvPr/>
        </p:nvSpPr>
        <p:spPr>
          <a:xfrm>
            <a:off x="9749318" y="1752852"/>
            <a:ext cx="12801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859046" y="1862580"/>
            <a:ext cx="10607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>
                <a:solidFill>
                  <a:srgbClr val="EA580C"/>
                </a:solidFill>
              </a:rPr>
              <a:t>Métricas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9859046" y="2118612"/>
            <a:ext cx="1060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>
                <a:solidFill>
                  <a:srgbClr val="475569"/>
                </a:solidFill>
              </a:rPr>
              <a:t>Accuracy/F1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1833838" y="30836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F172A"/>
                </a:solidFill>
              </a:rPr>
              <a:t>Condiciones equivalentes</a:t>
            </a:r>
            <a:endParaRPr lang="en-US" sz="1450"/>
          </a:p>
        </p:txBody>
      </p:sp>
      <p:sp>
        <p:nvSpPr>
          <p:cNvPr id="25" name="Shape 23"/>
          <p:cNvSpPr/>
          <p:nvPr/>
        </p:nvSpPr>
        <p:spPr>
          <a:xfrm>
            <a:off x="1833838" y="3431116"/>
            <a:ext cx="283464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33838" y="3568276"/>
            <a:ext cx="4676035" cy="1904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Mismo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dataset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filtrado</a:t>
            </a:r>
            <a:endParaRPr lang="en-US" sz="1350" dirty="0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Misma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variable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objetivo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binaria</a:t>
            </a:r>
            <a:endParaRPr lang="en-US" sz="1350" dirty="0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Misma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partición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80/20</a:t>
            </a:r>
            <a:endParaRPr lang="en-US" sz="1350" dirty="0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Misma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semilla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aleatoria</a:t>
            </a:r>
            <a:endParaRPr lang="en-US" sz="1350" dirty="0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Mismas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métricas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principales</a:t>
            </a:r>
            <a:endParaRPr lang="en-US" sz="1350" dirty="0" err="1">
              <a:latin typeface="Apto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53480" y="310883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>
                <a:solidFill>
                  <a:srgbClr val="0F172A"/>
                </a:solidFill>
              </a:rPr>
              <a:t>Evidencias generadas</a:t>
            </a:r>
            <a:endParaRPr lang="en-US" sz="1450"/>
          </a:p>
        </p:txBody>
      </p:sp>
      <p:sp>
        <p:nvSpPr>
          <p:cNvPr id="28" name="Shape 26"/>
          <p:cNvSpPr/>
          <p:nvPr/>
        </p:nvSpPr>
        <p:spPr>
          <a:xfrm>
            <a:off x="7153480" y="3456306"/>
            <a:ext cx="283464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53480" y="3593466"/>
            <a:ext cx="4663440" cy="19047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CSV de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métricas</a:t>
            </a:r>
            <a:endParaRPr lang="en-US" sz="1350" dirty="0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Tiempos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ejecución</a:t>
            </a:r>
            <a:endParaRPr lang="en-US" sz="1350" dirty="0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Matriz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confusión</a:t>
            </a:r>
            <a:endParaRPr lang="en-US" sz="1350" dirty="0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Comparación</a:t>
            </a: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modelos</a:t>
            </a:r>
            <a:endParaRPr lang="en-US" sz="1350" dirty="0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3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3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Modelo </a:t>
            </a:r>
            <a:r>
              <a:rPr lang="en-US" sz="13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guardado</a:t>
            </a:r>
            <a:endParaRPr lang="en-US" sz="1350" dirty="0" err="1">
              <a:latin typeface="Apto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0080" y="5833872"/>
            <a:ext cx="10881360" cy="429768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952744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0F172A"/>
                </a:solidFill>
              </a:rPr>
              <a:t>La comparación solo es válida porque ambos prototipos resuelven el mismo problema bajo las mismas condiciones.</a:t>
            </a:r>
            <a:endParaRPr lang="en-US" sz="115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IMPLEMENTACIÓN MANUAL/CONTROLADA</a:t>
            </a:r>
            <a:endParaRPr lang="en-US" sz="95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A: Scikit-learn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Qué hace</a:t>
            </a:r>
            <a:endParaRPr lang="en-US" sz="1700"/>
          </a:p>
        </p:txBody>
      </p:sp>
      <p:sp>
        <p:nvSpPr>
          <p:cNvPr id="6" name="Text 4"/>
          <p:cNvSpPr/>
          <p:nvPr/>
        </p:nvSpPr>
        <p:spPr>
          <a:xfrm>
            <a:off x="868680" y="1938528"/>
            <a:ext cx="502920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4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Pipeline </a:t>
            </a: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explícito</a:t>
            </a:r>
            <a:r>
              <a:rPr lang="en-US" sz="14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con </a:t>
            </a: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StandardScaler</a:t>
            </a:r>
            <a:endParaRPr lang="en-US" sz="1450" dirty="0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4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Comparación</a:t>
            </a:r>
            <a:r>
              <a:rPr lang="en-US" sz="14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de 13 </a:t>
            </a: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clasificadores</a:t>
            </a:r>
            <a:r>
              <a:rPr lang="en-US" sz="14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con </a:t>
            </a: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validación</a:t>
            </a:r>
            <a:r>
              <a:rPr lang="en-US" sz="14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cruzada</a:t>
            </a:r>
            <a:endParaRPr lang="en-US" sz="1450" dirty="0" err="1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4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Selección</a:t>
            </a:r>
            <a:r>
              <a:rPr lang="en-US" sz="14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de Logistic Regression</a:t>
            </a:r>
            <a:endParaRPr lang="en-US" sz="1450" dirty="0">
              <a:latin typeface="Aptos"/>
            </a:endParaRPr>
          </a:p>
          <a:p>
            <a:pPr marL="285750" indent="-285750">
              <a:buFont typeface="Arial"/>
              <a:buChar char="•"/>
            </a:pPr>
            <a:endParaRPr lang="en-US" sz="1450" dirty="0">
              <a:solidFill>
                <a:srgbClr val="475569"/>
              </a:solidFill>
              <a:latin typeface="Aptos" pitchFamily="34" charset="-122"/>
              <a:ea typeface="Aptos" pitchFamily="34" charset="-122"/>
              <a:cs typeface="Aptos" pitchFamily="34" charset="-120"/>
            </a:endParaRPr>
          </a:p>
          <a:p>
            <a:pPr marL="285750" indent="-285750">
              <a:buFont typeface="Arial"/>
              <a:buChar char="•"/>
            </a:pP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Predicción</a:t>
            </a:r>
            <a:r>
              <a:rPr lang="en-US" sz="14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y </a:t>
            </a: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métricas</a:t>
            </a:r>
            <a:r>
              <a:rPr lang="en-US" sz="14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50" dirty="0" err="1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sobre</a:t>
            </a:r>
            <a:r>
              <a:rPr lang="en-US" sz="1450" dirty="0">
                <a:solidFill>
                  <a:srgbClr val="475569"/>
                </a:solidFill>
                <a:latin typeface="Aptos"/>
                <a:ea typeface="Aptos" pitchFamily="34" charset="-122"/>
                <a:cs typeface="Aptos" pitchFamily="34" charset="-120"/>
              </a:rPr>
              <a:t> test</a:t>
            </a:r>
            <a:endParaRPr lang="en-US" sz="1450" dirty="0">
              <a:latin typeface="Apto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0" y="1536192"/>
            <a:ext cx="420624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208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0,0156s</a:t>
            </a:r>
            <a:endParaRPr lang="en-US" sz="2700"/>
          </a:p>
        </p:txBody>
      </p:sp>
      <p:sp>
        <p:nvSpPr>
          <p:cNvPr id="9" name="Text 7"/>
          <p:cNvSpPr/>
          <p:nvPr/>
        </p:nvSpPr>
        <p:spPr>
          <a:xfrm>
            <a:off x="6720840" y="2377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entrenamiento final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841248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2563E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0,0021s</a:t>
            </a:r>
            <a:endParaRPr lang="en-US" sz="2700"/>
          </a:p>
        </p:txBody>
      </p:sp>
      <p:sp>
        <p:nvSpPr>
          <p:cNvPr id="11" name="Text 9"/>
          <p:cNvSpPr/>
          <p:nvPr/>
        </p:nvSpPr>
        <p:spPr>
          <a:xfrm>
            <a:off x="8412480" y="23774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predicción</a:t>
            </a:r>
            <a:endParaRPr lang="en-US" sz="1250"/>
          </a:p>
        </p:txBody>
      </p:sp>
      <p:sp>
        <p:nvSpPr>
          <p:cNvPr id="12" name="Text 10"/>
          <p:cNvSpPr/>
          <p:nvPr/>
        </p:nvSpPr>
        <p:spPr>
          <a:xfrm>
            <a:off x="672084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7C3AE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175</a:t>
            </a:r>
            <a:endParaRPr lang="en-US" sz="2700"/>
          </a:p>
        </p:txBody>
      </p:sp>
      <p:sp>
        <p:nvSpPr>
          <p:cNvPr id="13" name="Text 11"/>
          <p:cNvSpPr/>
          <p:nvPr/>
        </p:nvSpPr>
        <p:spPr>
          <a:xfrm>
            <a:off x="6720840" y="3794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efectivas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8412480" y="32918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>
                <a:solidFill>
                  <a:srgbClr val="EA580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3h</a:t>
            </a:r>
            <a:endParaRPr lang="en-US" sz="2700"/>
          </a:p>
        </p:txBody>
      </p:sp>
      <p:sp>
        <p:nvSpPr>
          <p:cNvPr id="15" name="Text 13"/>
          <p:cNvSpPr/>
          <p:nvPr/>
        </p:nvSpPr>
        <p:spPr>
          <a:xfrm>
            <a:off x="8412480" y="379476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desarrollo estimado</a:t>
            </a:r>
            <a:endParaRPr lang="en-US" sz="1250"/>
          </a:p>
        </p:txBody>
      </p:sp>
      <p:sp>
        <p:nvSpPr>
          <p:cNvPr id="17" name="Text 15"/>
          <p:cNvSpPr/>
          <p:nvPr/>
        </p:nvSpPr>
        <p:spPr>
          <a:xfrm>
            <a:off x="868680" y="49194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0F172A"/>
                </a:solidFill>
              </a:rPr>
              <a:t>Más control y transparencia; más código explícito y más trabajo manual.</a:t>
            </a:r>
            <a:endParaRPr lang="en-US" sz="1800"/>
          </a:p>
        </p:txBody>
      </p:sp>
      <p:sp>
        <p:nvSpPr>
          <p:cNvPr id="18" name="Shape 16"/>
          <p:cNvSpPr/>
          <p:nvPr/>
        </p:nvSpPr>
        <p:spPr>
          <a:xfrm>
            <a:off x="640080" y="5833872"/>
            <a:ext cx="10881360" cy="429768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952744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0F172A"/>
                </a:solidFill>
              </a:rPr>
              <a:t>Scikit-learn es fuerte cuando se necesita controlar el pipeline y optimizar el modelo final.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AUTOMATIZACIÓN / BAJO CÓDIGO</a:t>
            </a:r>
            <a:endParaRPr lang="en-US" sz="95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Prototipo B: PyCaret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54480"/>
            <a:ext cx="52120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 el experimento con setup()</a:t>
            </a:r>
            <a:endParaRPr lang="en-US" sz="1450"/>
          </a:p>
          <a:p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 modelos con compare_models()</a:t>
            </a:r>
            <a:endParaRPr lang="en-US" sz="1450"/>
          </a:p>
          <a:p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 Logistic Regression</a:t>
            </a:r>
            <a:endParaRPr lang="en-US" sz="1450"/>
          </a:p>
          <a:p>
            <a:r>
              <a:rPr lang="en-US" sz="145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 métricas, matriz de confusión y modelo guardado</a:t>
            </a:r>
            <a:endParaRPr lang="en-US" sz="1450"/>
          </a:p>
        </p:txBody>
      </p:sp>
      <p:graphicFrame>
        <p:nvGraphicFramePr>
          <p:cNvPr id="6" name="Chart 0"/>
          <p:cNvGraphicFramePr/>
          <p:nvPr/>
        </p:nvGraphicFramePr>
        <p:xfrm>
          <a:off x="6492240" y="1554480"/>
          <a:ext cx="47548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492240" y="480060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72A"/>
                </a:solidFill>
              </a:rPr>
              <a:t>Resultados clave</a:t>
            </a:r>
            <a:endParaRPr lang="en-US" sz="1500"/>
          </a:p>
        </p:txBody>
      </p:sp>
      <p:sp>
        <p:nvSpPr>
          <p:cNvPr id="8" name="Text 5"/>
          <p:cNvSpPr/>
          <p:nvPr/>
        </p:nvSpPr>
        <p:spPr>
          <a:xfrm>
            <a:off x="6492240" y="51389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>
                <a:solidFill>
                  <a:srgbClr val="475569"/>
                </a:solidFill>
              </a:rPr>
              <a:t>Accuracy 0,9421 · F1 Riesgo 0,9255 · Tiempo total 12,78s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640080" y="5833872"/>
            <a:ext cx="10881360" cy="429768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952744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0F172A"/>
                </a:solidFill>
              </a:rPr>
              <a:t>PyCaret es fuerte para explorar rápido: automatiza preparación, comparación y selección de modelos.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</a:t>
            </a:r>
            <a:endParaRPr lang="en-US" sz="95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Resultados comparativos: misma calidad predictiva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731520" y="1508760"/>
          <a:ext cx="6492240" cy="3611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63840" y="1783080"/>
            <a:ext cx="3474720" cy="2514600"/>
          </a:xfrm>
          <a:prstGeom prst="roundRect">
            <a:avLst>
              <a:gd name="adj" fmla="val 290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83880" y="205740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6A34A"/>
                </a:solidFill>
              </a:rPr>
              <a:t>Clave</a:t>
            </a:r>
            <a:endParaRPr lang="en-US" sz="1600"/>
          </a:p>
        </p:txBody>
      </p:sp>
      <p:sp>
        <p:nvSpPr>
          <p:cNvPr id="8" name="Text 5"/>
          <p:cNvSpPr/>
          <p:nvPr/>
        </p:nvSpPr>
        <p:spPr>
          <a:xfrm>
            <a:off x="8183880" y="2514600"/>
            <a:ext cx="2743200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>
                <a:solidFill>
                  <a:srgbClr val="0F172A"/>
                </a:solidFill>
              </a:rPr>
              <a:t>La diferencia no está en la calidad final del modelo: ambos llegan al mismo resultado predictivo.</a:t>
            </a:r>
            <a:endParaRPr lang="en-US" sz="1700"/>
          </a:p>
        </p:txBody>
      </p:sp>
      <p:sp>
        <p:nvSpPr>
          <p:cNvPr id="9" name="Shape 6"/>
          <p:cNvSpPr/>
          <p:nvPr/>
        </p:nvSpPr>
        <p:spPr>
          <a:xfrm>
            <a:off x="640080" y="5833872"/>
            <a:ext cx="10881360" cy="429768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5952744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0F172A"/>
                </a:solidFill>
              </a:rPr>
              <a:t>La comparación se decide por proceso: control, automatización, tiempos, instalación y mantenibilidad.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10896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PROCESO</a:t>
            </a:r>
            <a:endParaRPr lang="en-US" sz="950"/>
          </a:p>
        </p:txBody>
      </p:sp>
      <p:sp>
        <p:nvSpPr>
          <p:cNvPr id="3" name="Text 1"/>
          <p:cNvSpPr/>
          <p:nvPr/>
        </p:nvSpPr>
        <p:spPr>
          <a:xfrm>
            <a:off x="594360" y="56692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Diferencias prácticas: rendimiento, código y esfuerzo</a:t>
            </a:r>
            <a:endParaRPr lang="en-US" sz="2600"/>
          </a:p>
        </p:txBody>
      </p:sp>
      <p:sp>
        <p:nvSpPr>
          <p:cNvPr id="4" name="Shape 2"/>
          <p:cNvSpPr/>
          <p:nvPr/>
        </p:nvSpPr>
        <p:spPr>
          <a:xfrm>
            <a:off x="594360" y="1143000"/>
            <a:ext cx="11018520" cy="0"/>
          </a:xfrm>
          <a:prstGeom prst="line">
            <a:avLst/>
          </a:prstGeom>
          <a:noFill/>
          <a:ln w="12700">
            <a:solidFill>
              <a:srgbClr val="D9E2EC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85800" y="1417320"/>
          <a:ext cx="65836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50876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74152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</a:rPr>
              <a:t>PyCaret tarda más porque compara modelos.</a:t>
            </a:r>
            <a:endParaRPr lang="en-US" sz="1600"/>
          </a:p>
        </p:txBody>
      </p:sp>
      <p:sp>
        <p:nvSpPr>
          <p:cNvPr id="8" name="Shape 5"/>
          <p:cNvSpPr/>
          <p:nvPr/>
        </p:nvSpPr>
        <p:spPr>
          <a:xfrm>
            <a:off x="7818120" y="2999232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74152" y="327355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F172A"/>
                </a:solidFill>
              </a:rPr>
              <a:t>Scikit-learn mide el ajuste final del modelo.</a:t>
            </a:r>
            <a:endParaRPr lang="en-US" sz="1600"/>
          </a:p>
        </p:txBody>
      </p:sp>
      <p:sp>
        <p:nvSpPr>
          <p:cNvPr id="10" name="Shape 7"/>
          <p:cNvSpPr/>
          <p:nvPr/>
        </p:nvSpPr>
        <p:spPr>
          <a:xfrm>
            <a:off x="640080" y="5833872"/>
            <a:ext cx="10881360" cy="429768"/>
          </a:xfrm>
          <a:prstGeom prst="roundRect">
            <a:avLst>
              <a:gd name="adj" fmla="val 17021"/>
            </a:avLst>
          </a:prstGeom>
          <a:solidFill>
            <a:srgbClr val="EFF6FF"/>
          </a:solidFill>
          <a:ln w="7620">
            <a:solidFill>
              <a:srgbClr val="BFDBF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952744"/>
            <a:ext cx="10469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>
                <a:solidFill>
                  <a:srgbClr val="0F172A"/>
                </a:solidFill>
              </a:rPr>
              <a:t>No es solo “quién tarda menos”: es qué está midiendo cada tecnología en ese tiempo.</a:t>
            </a:r>
            <a:endParaRPr lang="en-US" sz="115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858E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TG3 · Scikit-learn vs PyCaret · dte2026a3g02</a:t>
            </a:r>
            <a:endParaRPr lang="en-US" sz="850"/>
          </a:p>
        </p:txBody>
      </p:sp>
      <p:sp>
        <p:nvSpPr>
          <p:cNvPr id="3" name="Shape 1"/>
          <p:cNvSpPr/>
          <p:nvPr/>
        </p:nvSpPr>
        <p:spPr>
          <a:xfrm>
            <a:off x="411480" y="530352"/>
            <a:ext cx="676656" cy="54864"/>
          </a:xfrm>
          <a:prstGeom prst="rect">
            <a:avLst/>
          </a:prstGeom>
          <a:solidFill>
            <a:srgbClr val="FF6B3A"/>
          </a:solidFill>
          <a:ln w="12700">
            <a:solidFill>
              <a:srgbClr val="FF6B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115568" y="530352"/>
            <a:ext cx="1051560" cy="54864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411480" y="69494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latin typeface="Aptos Display"/>
                <a:ea typeface="Aptos Display" pitchFamily="34" charset="-122"/>
                <a:cs typeface="Aptos Display" pitchFamily="34" charset="-120"/>
              </a:rPr>
              <a:t>CONCLUSIONES FINALES</a:t>
            </a:r>
            <a:endParaRPr lang="en-US" sz="1300">
              <a:latin typeface="Aptos Display"/>
            </a:endParaRPr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667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>
                <a:latin typeface="Aptos Display"/>
                <a:ea typeface="Aptos Display" pitchFamily="34" charset="-122"/>
                <a:cs typeface="Aptos Display" pitchFamily="34" charset="-120"/>
              </a:rPr>
              <a:t>No </a:t>
            </a:r>
            <a:r>
              <a:rPr lang="en-US" sz="2800" b="1" err="1">
                <a:latin typeface="Aptos Display"/>
                <a:ea typeface="Aptos Display" pitchFamily="34" charset="-122"/>
                <a:cs typeface="Aptos Display" pitchFamily="34" charset="-120"/>
              </a:rPr>
              <a:t>gana</a:t>
            </a:r>
            <a:r>
              <a:rPr lang="en-US" sz="2800" b="1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err="1">
                <a:latin typeface="Aptos Display"/>
                <a:ea typeface="Aptos Display" pitchFamily="34" charset="-122"/>
                <a:cs typeface="Aptos Display" pitchFamily="34" charset="-120"/>
              </a:rPr>
              <a:t>una</a:t>
            </a:r>
            <a:r>
              <a:rPr lang="en-US" sz="2800" b="1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err="1">
                <a:latin typeface="Aptos Display"/>
                <a:ea typeface="Aptos Display" pitchFamily="34" charset="-122"/>
                <a:cs typeface="Aptos Display" pitchFamily="34" charset="-120"/>
              </a:rPr>
              <a:t>tecnología</a:t>
            </a:r>
            <a:r>
              <a:rPr lang="en-US" sz="2800" b="1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err="1">
                <a:latin typeface="Aptos Display"/>
                <a:ea typeface="Aptos Display" pitchFamily="34" charset="-122"/>
                <a:cs typeface="Aptos Display" pitchFamily="34" charset="-120"/>
              </a:rPr>
              <a:t>en</a:t>
            </a:r>
            <a:r>
              <a:rPr lang="en-US" sz="2800" b="1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err="1">
                <a:latin typeface="Aptos Display"/>
                <a:ea typeface="Aptos Display" pitchFamily="34" charset="-122"/>
                <a:cs typeface="Aptos Display" pitchFamily="34" charset="-120"/>
              </a:rPr>
              <a:t>todo</a:t>
            </a:r>
            <a:endParaRPr lang="en-US" sz="2800" err="1">
              <a:latin typeface="Aptos Display"/>
            </a:endParaRPr>
          </a:p>
        </p:txBody>
      </p:sp>
      <p:sp>
        <p:nvSpPr>
          <p:cNvPr id="7" name="Text 5"/>
          <p:cNvSpPr/>
          <p:nvPr/>
        </p:nvSpPr>
        <p:spPr>
          <a:xfrm>
            <a:off x="411480" y="1593561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La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diferencia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 principal no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está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en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 la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calidad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predictiva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,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sino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en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el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proceso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250" err="1">
                <a:latin typeface="Aptos"/>
                <a:ea typeface="Aptos" pitchFamily="34" charset="-122"/>
                <a:cs typeface="Aptos" pitchFamily="34" charset="-120"/>
              </a:rPr>
              <a:t>desarrollo</a:t>
            </a:r>
            <a:r>
              <a:rPr lang="en-US" sz="1250">
                <a:latin typeface="Aptos"/>
                <a:ea typeface="Aptos" pitchFamily="34" charset="-122"/>
                <a:cs typeface="Aptos" pitchFamily="34" charset="-120"/>
              </a:rPr>
              <a:t>.</a:t>
            </a:r>
            <a:endParaRPr lang="en-US" sz="1250">
              <a:latin typeface="Apto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3246120" cy="2331720"/>
          </a:xfrm>
          <a:prstGeom prst="roundRect">
            <a:avLst>
              <a:gd name="adj" fmla="val 549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39369" y="2805915"/>
            <a:ext cx="3542986" cy="962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latin typeface="Aptos"/>
                <a:ea typeface="Aptos" pitchFamily="34" charset="-122"/>
                <a:cs typeface="Aptos" pitchFamily="34" charset="-120"/>
              </a:rPr>
              <a:t>•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Misma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calidad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predictiva</a:t>
            </a:r>
            <a:endParaRPr lang="en-US" sz="1200">
              <a:latin typeface="Aptos"/>
            </a:endParaRPr>
          </a:p>
          <a:p>
            <a:pPr marL="0" indent="0">
              <a:buNone/>
            </a:pP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Mismo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modelo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final: Logistic Regression</a:t>
            </a:r>
            <a:endParaRPr lang="en-US" sz="1200">
              <a:latin typeface="Aptos"/>
            </a:endParaRPr>
          </a:p>
          <a:p>
            <a:pPr marL="0" indent="0">
              <a:buNone/>
            </a:pP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• La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comparación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se decide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por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proceso</a:t>
            </a:r>
            <a:endParaRPr lang="en-US" sz="1200">
              <a:latin typeface="Apto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0684" y="4027327"/>
            <a:ext cx="1408970" cy="295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65D49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0,9421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1640826" y="408089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latin typeface="Aptos"/>
                <a:ea typeface="Aptos" pitchFamily="34" charset="-122"/>
                <a:cs typeface="Aptos" pitchFamily="34" charset="-120"/>
              </a:rPr>
              <a:t>accuracy </a:t>
            </a:r>
            <a:r>
              <a:rPr lang="en-US" sz="1400" err="1">
                <a:latin typeface="Aptos"/>
                <a:ea typeface="Aptos" pitchFamily="34" charset="-122"/>
                <a:cs typeface="Aptos" pitchFamily="34" charset="-120"/>
              </a:rPr>
              <a:t>en</a:t>
            </a:r>
            <a:r>
              <a:rPr lang="en-US" sz="1400">
                <a:latin typeface="Aptos"/>
                <a:ea typeface="Aptos" pitchFamily="34" charset="-122"/>
                <a:cs typeface="Aptos" pitchFamily="34" charset="-120"/>
              </a:rPr>
              <a:t> ambos</a:t>
            </a:r>
            <a:endParaRPr lang="en-US" sz="1400">
              <a:latin typeface="Apto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041648" y="2121408"/>
            <a:ext cx="3337560" cy="2331720"/>
          </a:xfrm>
          <a:prstGeom prst="roundRect">
            <a:avLst>
              <a:gd name="adj" fmla="val 549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2B304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/>
          <p:cNvSpPr/>
          <p:nvPr/>
        </p:nvSpPr>
        <p:spPr>
          <a:xfrm>
            <a:off x="4297680" y="23774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err="1">
                <a:latin typeface="Aptos Display"/>
                <a:ea typeface="Aptos Display" pitchFamily="34" charset="-122"/>
                <a:cs typeface="Aptos Display" pitchFamily="34" charset="-120"/>
              </a:rPr>
              <a:t>PyCaret</a:t>
            </a:r>
            <a:r>
              <a:rPr lang="en-US" sz="1400" b="1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400" b="1" err="1">
                <a:latin typeface="Aptos Display"/>
                <a:ea typeface="Aptos Display" pitchFamily="34" charset="-122"/>
                <a:cs typeface="Aptos Display" pitchFamily="34" charset="-120"/>
              </a:rPr>
              <a:t>destaca</a:t>
            </a:r>
            <a:r>
              <a:rPr lang="en-US" sz="1400" b="1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400" b="1" err="1">
                <a:latin typeface="Aptos Display"/>
                <a:ea typeface="Aptos Display" pitchFamily="34" charset="-122"/>
                <a:cs typeface="Aptos Display" pitchFamily="34" charset="-120"/>
              </a:rPr>
              <a:t>por</a:t>
            </a:r>
            <a:r>
              <a:rPr lang="en-US" sz="1400" b="1">
                <a:latin typeface="Aptos Display"/>
                <a:ea typeface="Aptos Display" pitchFamily="34" charset="-122"/>
                <a:cs typeface="Aptos Display" pitchFamily="34" charset="-120"/>
              </a:rPr>
              <a:t>…</a:t>
            </a:r>
            <a:endParaRPr lang="en-US" sz="1400">
              <a:latin typeface="Aptos Display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297680" y="2816352"/>
            <a:ext cx="2788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Prototipado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rápido</a:t>
            </a:r>
            <a:endParaRPr lang="en-US" sz="1200">
              <a:latin typeface="Aptos"/>
            </a:endParaRPr>
          </a:p>
          <a:p>
            <a:pPr marL="0" indent="0">
              <a:buNone/>
            </a:pP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• Menos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líneas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código</a:t>
            </a:r>
            <a:endParaRPr lang="en-US" sz="1200">
              <a:latin typeface="Aptos"/>
            </a:endParaRPr>
          </a:p>
          <a:p>
            <a:pPr marL="0" indent="0">
              <a:buNone/>
            </a:pP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•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Comparación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automática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de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modelos</a:t>
            </a:r>
            <a:endParaRPr lang="en-US" sz="1200">
              <a:latin typeface="Aptos"/>
            </a:endParaRPr>
          </a:p>
          <a:p>
            <a:pPr marL="0" indent="0">
              <a:buNone/>
            </a:pP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• Más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útil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explorar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alternativas</a:t>
            </a:r>
            <a:endParaRPr lang="en-US" sz="1200">
              <a:latin typeface="Apto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297680" y="4123944"/>
            <a:ext cx="502920" cy="54864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4933793" y="403250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latin typeface="Aptos"/>
                <a:ea typeface="Aptos" pitchFamily="34" charset="-122"/>
                <a:cs typeface="Aptos" pitchFamily="34" charset="-120"/>
              </a:rPr>
              <a:t>Mejor para </a:t>
            </a:r>
            <a:r>
              <a:rPr lang="en-US" sz="1400" err="1">
                <a:latin typeface="Aptos"/>
                <a:ea typeface="Aptos" pitchFamily="34" charset="-122"/>
                <a:cs typeface="Aptos" pitchFamily="34" charset="-120"/>
              </a:rPr>
              <a:t>fases</a:t>
            </a:r>
            <a:r>
              <a:rPr lang="en-US" sz="14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400" err="1">
                <a:latin typeface="Aptos"/>
                <a:ea typeface="Aptos" pitchFamily="34" charset="-122"/>
                <a:cs typeface="Aptos" pitchFamily="34" charset="-120"/>
              </a:rPr>
              <a:t>iniciales</a:t>
            </a:r>
            <a:endParaRPr lang="en-US" sz="1400" err="1">
              <a:latin typeface="Apto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589520" y="2121408"/>
            <a:ext cx="3840480" cy="2331720"/>
          </a:xfrm>
          <a:prstGeom prst="roundRect">
            <a:avLst>
              <a:gd name="adj" fmla="val 549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7845552" y="2377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latin typeface="Aptos Display"/>
                <a:ea typeface="Aptos Display" pitchFamily="34" charset="-122"/>
                <a:cs typeface="Aptos Display" pitchFamily="34" charset="-120"/>
              </a:rPr>
              <a:t>Scikit-learn </a:t>
            </a:r>
            <a:r>
              <a:rPr lang="en-US" sz="1400" b="1" err="1">
                <a:latin typeface="Aptos Display"/>
                <a:ea typeface="Aptos Display" pitchFamily="34" charset="-122"/>
                <a:cs typeface="Aptos Display" pitchFamily="34" charset="-120"/>
              </a:rPr>
              <a:t>destaca</a:t>
            </a:r>
            <a:r>
              <a:rPr lang="en-US" sz="1400" b="1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400" b="1" err="1">
                <a:latin typeface="Aptos Display"/>
                <a:ea typeface="Aptos Display" pitchFamily="34" charset="-122"/>
                <a:cs typeface="Aptos Display" pitchFamily="34" charset="-120"/>
              </a:rPr>
              <a:t>por</a:t>
            </a:r>
            <a:r>
              <a:rPr lang="en-US" sz="1400" b="1">
                <a:latin typeface="Aptos Display"/>
                <a:ea typeface="Aptos Display" pitchFamily="34" charset="-122"/>
                <a:cs typeface="Aptos Display" pitchFamily="34" charset="-120"/>
              </a:rPr>
              <a:t>…</a:t>
            </a:r>
            <a:endParaRPr lang="en-US" sz="1400">
              <a:latin typeface="Aptos Display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845552" y="2816352"/>
            <a:ext cx="3246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>
                <a:latin typeface="Aptos"/>
                <a:ea typeface="Aptos" pitchFamily="34" charset="-122"/>
                <a:cs typeface="Aptos" pitchFamily="34" charset="-120"/>
              </a:rPr>
              <a:t>•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Mayor control del pipeline</a:t>
            </a:r>
            <a:endParaRPr lang="en-US" sz="1200">
              <a:latin typeface="Aptos"/>
            </a:endParaRPr>
          </a:p>
          <a:p>
            <a:pPr marL="0" indent="0">
              <a:buNone/>
            </a:pP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• Más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transparencia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en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cada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paso</a:t>
            </a:r>
            <a:endParaRPr lang="en-US" sz="1200">
              <a:latin typeface="Aptos"/>
            </a:endParaRPr>
          </a:p>
          <a:p>
            <a:pPr marL="0" indent="0">
              <a:buNone/>
            </a:pP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• Mejor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rendimiento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del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modelo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final</a:t>
            </a:r>
            <a:endParaRPr lang="en-US" sz="1200">
              <a:latin typeface="Aptos"/>
            </a:endParaRPr>
          </a:p>
          <a:p>
            <a:pPr marL="0" indent="0">
              <a:buNone/>
            </a:pP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• Más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adecuado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para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implementación</a:t>
            </a:r>
            <a:r>
              <a:rPr lang="en-US" sz="1200">
                <a:latin typeface="Aptos"/>
                <a:ea typeface="Aptos" pitchFamily="34" charset="-122"/>
                <a:cs typeface="Aptos" pitchFamily="34" charset="-120"/>
              </a:rPr>
              <a:t> </a:t>
            </a:r>
            <a:r>
              <a:rPr lang="en-US" sz="1200" err="1">
                <a:latin typeface="Aptos"/>
                <a:ea typeface="Aptos" pitchFamily="34" charset="-122"/>
                <a:cs typeface="Aptos" pitchFamily="34" charset="-120"/>
              </a:rPr>
              <a:t>controlada</a:t>
            </a:r>
            <a:endParaRPr lang="en-US" sz="1200">
              <a:latin typeface="Apto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845552" y="4123944"/>
            <a:ext cx="502920" cy="54864"/>
          </a:xfrm>
          <a:prstGeom prst="rect">
            <a:avLst/>
          </a:prstGeom>
          <a:solidFill>
            <a:srgbClr val="FF6B3A"/>
          </a:solidFill>
          <a:ln w="12700">
            <a:solidFill>
              <a:srgbClr val="FF6B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20"/>
          <p:cNvSpPr/>
          <p:nvPr/>
        </p:nvSpPr>
        <p:spPr>
          <a:xfrm>
            <a:off x="8439912" y="40325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latin typeface="Aptos"/>
                <a:ea typeface="Aptos" pitchFamily="34" charset="-122"/>
                <a:cs typeface="Aptos" pitchFamily="34" charset="-120"/>
              </a:rPr>
              <a:t>Mejor para </a:t>
            </a:r>
            <a:r>
              <a:rPr lang="en-US" sz="1400" err="1">
                <a:latin typeface="Aptos"/>
                <a:ea typeface="Aptos" pitchFamily="34" charset="-122"/>
                <a:cs typeface="Aptos" pitchFamily="34" charset="-120"/>
              </a:rPr>
              <a:t>desarrollos</a:t>
            </a:r>
            <a:r>
              <a:rPr lang="en-US" sz="1400">
                <a:latin typeface="Aptos"/>
                <a:ea typeface="Aptos" pitchFamily="34" charset="-122"/>
                <a:cs typeface="Aptos" pitchFamily="34" charset="-120"/>
              </a:rPr>
              <a:t> finales</a:t>
            </a:r>
            <a:endParaRPr lang="en-US" sz="1400">
              <a:latin typeface="Apto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02920" y="4882896"/>
            <a:ext cx="10927080" cy="1078992"/>
          </a:xfrm>
          <a:prstGeom prst="roundRect">
            <a:avLst>
              <a:gd name="adj" fmla="val 15254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Text 22"/>
          <p:cNvSpPr/>
          <p:nvPr/>
        </p:nvSpPr>
        <p:spPr>
          <a:xfrm>
            <a:off x="822960" y="5269449"/>
            <a:ext cx="10287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err="1">
                <a:latin typeface="Aptos Display"/>
                <a:ea typeface="Aptos Display" pitchFamily="34" charset="-122"/>
                <a:cs typeface="Aptos Display" pitchFamily="34" charset="-120"/>
              </a:rPr>
              <a:t>Decisión</a:t>
            </a:r>
            <a:r>
              <a:rPr lang="en-US" sz="1700" b="1">
                <a:latin typeface="Aptos Display"/>
                <a:ea typeface="Aptos Display" pitchFamily="34" charset="-122"/>
                <a:cs typeface="Aptos Display" pitchFamily="34" charset="-120"/>
              </a:rPr>
              <a:t> final: </a:t>
            </a:r>
            <a:r>
              <a:rPr lang="en-US" sz="1700" err="1">
                <a:latin typeface="Aptos Display"/>
                <a:ea typeface="Aptos Display" pitchFamily="34" charset="-122"/>
                <a:cs typeface="Aptos Display" pitchFamily="34" charset="-120"/>
              </a:rPr>
              <a:t>PyCaret</a:t>
            </a:r>
            <a:r>
              <a:rPr lang="en-US" sz="1700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700" err="1">
                <a:latin typeface="Aptos Display"/>
                <a:ea typeface="Aptos Display" pitchFamily="34" charset="-122"/>
                <a:cs typeface="Aptos Display" pitchFamily="34" charset="-120"/>
              </a:rPr>
              <a:t>acelera</a:t>
            </a:r>
            <a:r>
              <a:rPr lang="en-US" sz="1700">
                <a:latin typeface="Aptos Display"/>
                <a:ea typeface="Aptos Display" pitchFamily="34" charset="-122"/>
                <a:cs typeface="Aptos Display" pitchFamily="34" charset="-120"/>
              </a:rPr>
              <a:t> la </a:t>
            </a:r>
            <a:r>
              <a:rPr lang="en-US" sz="1700" err="1">
                <a:latin typeface="Aptos Display"/>
                <a:ea typeface="Aptos Display" pitchFamily="34" charset="-122"/>
                <a:cs typeface="Aptos Display" pitchFamily="34" charset="-120"/>
              </a:rPr>
              <a:t>exploración</a:t>
            </a:r>
            <a:r>
              <a:rPr lang="en-US" sz="1700">
                <a:latin typeface="Aptos Display"/>
                <a:ea typeface="Aptos Display" pitchFamily="34" charset="-122"/>
                <a:cs typeface="Aptos Display" pitchFamily="34" charset="-120"/>
              </a:rPr>
              <a:t>; Scikit-learn </a:t>
            </a:r>
            <a:r>
              <a:rPr lang="en-US" sz="1700" err="1">
                <a:latin typeface="Aptos Display"/>
                <a:ea typeface="Aptos Display" pitchFamily="34" charset="-122"/>
                <a:cs typeface="Aptos Display" pitchFamily="34" charset="-120"/>
              </a:rPr>
              <a:t>aporta</a:t>
            </a:r>
            <a:r>
              <a:rPr lang="en-US" sz="1700">
                <a:latin typeface="Aptos Display"/>
                <a:ea typeface="Aptos Display" pitchFamily="34" charset="-122"/>
                <a:cs typeface="Aptos Display" pitchFamily="34" charset="-120"/>
              </a:rPr>
              <a:t> control para </a:t>
            </a:r>
            <a:r>
              <a:rPr lang="en-US" sz="1700" err="1">
                <a:latin typeface="Aptos Display"/>
                <a:ea typeface="Aptos Display" pitchFamily="34" charset="-122"/>
                <a:cs typeface="Aptos Display" pitchFamily="34" charset="-120"/>
              </a:rPr>
              <a:t>una</a:t>
            </a:r>
            <a:r>
              <a:rPr lang="en-US" sz="1700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700" err="1">
                <a:latin typeface="Aptos Display"/>
                <a:ea typeface="Aptos Display" pitchFamily="34" charset="-122"/>
                <a:cs typeface="Aptos Display" pitchFamily="34" charset="-120"/>
              </a:rPr>
              <a:t>implementación</a:t>
            </a:r>
            <a:r>
              <a:rPr lang="en-US" sz="1700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700" err="1">
                <a:latin typeface="Aptos Display"/>
                <a:ea typeface="Aptos Display" pitchFamily="34" charset="-122"/>
                <a:cs typeface="Aptos Display" pitchFamily="34" charset="-120"/>
              </a:rPr>
              <a:t>más</a:t>
            </a:r>
            <a:r>
              <a:rPr lang="en-US" sz="1700">
                <a:latin typeface="Aptos Display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1700" err="1">
                <a:latin typeface="Aptos Display"/>
                <a:ea typeface="Aptos Display" pitchFamily="34" charset="-122"/>
                <a:cs typeface="Aptos Display" pitchFamily="34" charset="-120"/>
              </a:rPr>
              <a:t>ajustada</a:t>
            </a:r>
            <a:r>
              <a:rPr lang="en-US" sz="1700">
                <a:latin typeface="Aptos Display"/>
                <a:ea typeface="Aptos Display" pitchFamily="34" charset="-122"/>
                <a:cs typeface="Aptos Display" pitchFamily="34" charset="-120"/>
              </a:rPr>
              <a:t>.</a:t>
            </a:r>
            <a:endParaRPr lang="en-US" sz="1700">
              <a:latin typeface="Aptos Display"/>
            </a:endParaRPr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F577376A-D7A6-826B-8EA6-062888E44F4B}"/>
              </a:ext>
            </a:extLst>
          </p:cNvPr>
          <p:cNvSpPr/>
          <p:nvPr/>
        </p:nvSpPr>
        <p:spPr>
          <a:xfrm>
            <a:off x="781123" y="2377440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err="1">
                <a:latin typeface="Aptos Display"/>
                <a:ea typeface="Aptos Display" pitchFamily="34" charset="-122"/>
                <a:cs typeface="Aptos Display" pitchFamily="34" charset="-120"/>
              </a:rPr>
              <a:t>Resultado</a:t>
            </a:r>
            <a:r>
              <a:rPr lang="en-US" sz="1400" b="1">
                <a:latin typeface="Aptos Display"/>
                <a:ea typeface="Aptos Display" pitchFamily="34" charset="-122"/>
                <a:cs typeface="Aptos Display" pitchFamily="34" charset="-120"/>
              </a:rPr>
              <a:t> del </a:t>
            </a:r>
            <a:r>
              <a:rPr lang="en-US" sz="1400" b="1" err="1">
                <a:latin typeface="Aptos Display"/>
                <a:ea typeface="Aptos Display" pitchFamily="34" charset="-122"/>
                <a:cs typeface="Aptos Display" pitchFamily="34" charset="-120"/>
              </a:rPr>
              <a:t>experimento</a:t>
            </a:r>
            <a:endParaRPr lang="en-US" sz="1400" err="1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439501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3EFB08-F9FF-BD26-84C0-11ACE0403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31C44AA-65DC-D931-C56C-D562CA520BD9}"/>
              </a:ext>
            </a:extLst>
          </p:cNvPr>
          <p:cNvSpPr/>
          <p:nvPr/>
        </p:nvSpPr>
        <p:spPr>
          <a:xfrm>
            <a:off x="411480" y="20116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>
                <a:solidFill>
                  <a:srgbClr val="858EA3"/>
                </a:solidFill>
                <a:latin typeface="Aptos"/>
                <a:ea typeface="Aptos" pitchFamily="34" charset="-122"/>
                <a:cs typeface="Aptos" pitchFamily="34" charset="-120"/>
              </a:rPr>
              <a:t>TG3  · dte2026a3g02</a:t>
            </a:r>
            <a:endParaRPr lang="en-US" sz="850">
              <a:latin typeface="Apto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CAF135-A391-C20C-9742-4D1D24C67FAF}"/>
              </a:ext>
            </a:extLst>
          </p:cNvPr>
          <p:cNvSpPr/>
          <p:nvPr/>
        </p:nvSpPr>
        <p:spPr>
          <a:xfrm>
            <a:off x="411480" y="530352"/>
            <a:ext cx="676656" cy="54864"/>
          </a:xfrm>
          <a:prstGeom prst="rect">
            <a:avLst/>
          </a:prstGeom>
          <a:solidFill>
            <a:srgbClr val="FF6B3A"/>
          </a:solidFill>
          <a:ln w="12700">
            <a:solidFill>
              <a:srgbClr val="FF6B3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6799A9F-8C00-7748-A476-F7CCF1E74B4F}"/>
              </a:ext>
            </a:extLst>
          </p:cNvPr>
          <p:cNvSpPr/>
          <p:nvPr/>
        </p:nvSpPr>
        <p:spPr>
          <a:xfrm>
            <a:off x="1115568" y="530352"/>
            <a:ext cx="1051560" cy="54864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FBC1A0EE-DA77-C5D0-764D-1658C55BAA5B}"/>
              </a:ext>
            </a:extLst>
          </p:cNvPr>
          <p:cNvSpPr/>
          <p:nvPr/>
        </p:nvSpPr>
        <p:spPr>
          <a:xfrm>
            <a:off x="1404727" y="1329329"/>
            <a:ext cx="8811927" cy="4196614"/>
          </a:xfrm>
          <a:prstGeom prst="roundRect">
            <a:avLst>
              <a:gd name="adj" fmla="val 5490"/>
            </a:avLst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rgbClr val="2B3042">
                <a:alpha val="90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40AA770B-3834-2FCA-C174-8512F8118FD8}"/>
              </a:ext>
            </a:extLst>
          </p:cNvPr>
          <p:cNvSpPr/>
          <p:nvPr/>
        </p:nvSpPr>
        <p:spPr>
          <a:xfrm>
            <a:off x="2613259" y="3139440"/>
            <a:ext cx="6753725" cy="5568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latin typeface="Aptos Display"/>
              </a:rPr>
              <a:t>¿PREGUNTAS?</a:t>
            </a:r>
            <a:endParaRPr lang="en-US" sz="72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90151719-DE82-EAD9-42B3-8CBF8197730B}"/>
              </a:ext>
            </a:extLst>
          </p:cNvPr>
          <p:cNvSpPr/>
          <p:nvPr/>
        </p:nvSpPr>
        <p:spPr>
          <a:xfrm flipV="1">
            <a:off x="4337787" y="5341861"/>
            <a:ext cx="2748813" cy="65451"/>
          </a:xfrm>
          <a:prstGeom prst="rect">
            <a:avLst/>
          </a:prstGeom>
          <a:solidFill>
            <a:srgbClr val="4EA1FF"/>
          </a:solidFill>
          <a:ln w="12700">
            <a:solidFill>
              <a:srgbClr val="4EA1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2232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Universidad de Alcalá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TG3 - Scikit-learn vs PyCaret</dc:title>
  <dc:subject>TG3 Desarrollo con Tecnologías Emergentes</dc:subject>
  <dc:creator>dte2026a3g02</dc:creator>
  <cp:revision>51</cp:revision>
  <dcterms:created xsi:type="dcterms:W3CDTF">2026-05-13T10:05:39Z</dcterms:created>
  <dcterms:modified xsi:type="dcterms:W3CDTF">2026-05-13T18:00:37Z</dcterms:modified>
</cp:coreProperties>
</file>